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40410"/>
            <a:ext cx="10813067" cy="78383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998185"/>
            <a:ext cx="10813067" cy="54150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2974" y="1606318"/>
            <a:ext cx="11268845" cy="479145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FC4771-5A22-2E68-AB04-0949D0A15B66}"/>
              </a:ext>
            </a:extLst>
          </p:cNvPr>
          <p:cNvCxnSpPr>
            <a:cxnSpLocks/>
          </p:cNvCxnSpPr>
          <p:nvPr/>
        </p:nvCxnSpPr>
        <p:spPr>
          <a:xfrm flipH="1">
            <a:off x="0" y="159971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AA95C5A-6D75-9E1D-C459-7F2022E84F55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ED5AC1-9F96-A868-7F45-523BF1A45E7C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0E1F764-5B01-7711-9CF1-7EA13A629701}"/>
              </a:ext>
            </a:extLst>
          </p:cNvPr>
          <p:cNvCxnSpPr>
            <a:cxnSpLocks/>
          </p:cNvCxnSpPr>
          <p:nvPr/>
        </p:nvCxnSpPr>
        <p:spPr>
          <a:xfrm flipH="1">
            <a:off x="0" y="639617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38041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60221"/>
            <a:ext cx="10515600" cy="13304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04291"/>
            <a:ext cx="10515600" cy="41726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76D044F-5574-D6D7-2A47-5069E411C22F}"/>
              </a:ext>
            </a:extLst>
          </p:cNvPr>
          <p:cNvCxnSpPr>
            <a:cxnSpLocks/>
          </p:cNvCxnSpPr>
          <p:nvPr/>
        </p:nvCxnSpPr>
        <p:spPr>
          <a:xfrm flipH="1">
            <a:off x="0" y="1825625"/>
            <a:ext cx="12210293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5152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2445" y="1480212"/>
            <a:ext cx="3849131" cy="2871351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46" y="5410440"/>
            <a:ext cx="3849128" cy="106820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04414" cy="6859634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29501" y="6445997"/>
            <a:ext cx="295546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26650" y="6445997"/>
            <a:ext cx="135305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8BE003B-9AA9-5AAB-16A3-CC8CD5997AAA}"/>
              </a:ext>
            </a:extLst>
          </p:cNvPr>
          <p:cNvCxnSpPr>
            <a:cxnSpLocks/>
          </p:cNvCxnSpPr>
          <p:nvPr/>
        </p:nvCxnSpPr>
        <p:spPr>
          <a:xfrm flipH="1">
            <a:off x="7206802" y="5031087"/>
            <a:ext cx="498519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CBC2A1-BC50-27CD-C764-435FA7A59ABD}"/>
              </a:ext>
            </a:extLst>
          </p:cNvPr>
          <p:cNvCxnSpPr>
            <a:cxnSpLocks/>
          </p:cNvCxnSpPr>
          <p:nvPr/>
        </p:nvCxnSpPr>
        <p:spPr>
          <a:xfrm>
            <a:off x="720680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4440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6222" y="1246912"/>
            <a:ext cx="8919556" cy="3050766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1378" y="5345199"/>
            <a:ext cx="7289245" cy="118403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C4A186-7A3C-2849-F4A7-5B5565EB29E6}"/>
              </a:ext>
            </a:extLst>
          </p:cNvPr>
          <p:cNvCxnSpPr>
            <a:cxnSpLocks/>
          </p:cNvCxnSpPr>
          <p:nvPr/>
        </p:nvCxnSpPr>
        <p:spPr>
          <a:xfrm flipH="1">
            <a:off x="0" y="5016433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0C7E87E-EC44-47F9-6172-5EEA03DE5D87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59508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2D6AD5-6168-B411-89A9-90C82303B2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EC6DA0-2CB8-AFC5-DB06-AB9235983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38087"/>
            <a:ext cx="8932653" cy="3312544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cap="all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16A9F-28B9-2207-66D3-D952EB7EC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-789870"/>
            <a:ext cx="10515600" cy="63835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3F77F-C41D-1011-B9F4-A5DE814F4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751081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CD507-925C-84B3-8F49-9F3B91209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3B4AE-32E8-CAFF-4A3C-6CBE4FFF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FA0DE8-9E4B-D747-CB64-14B8DEDC02EA}"/>
              </a:ext>
            </a:extLst>
          </p:cNvPr>
          <p:cNvCxnSpPr>
            <a:cxnSpLocks/>
          </p:cNvCxnSpPr>
          <p:nvPr/>
        </p:nvCxnSpPr>
        <p:spPr>
          <a:xfrm flipH="1">
            <a:off x="0" y="1367580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EB75EB-F27E-271A-C843-4096E1F19057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33009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02D18C4-A1A8-6CA4-B4A2-0E9791DC7F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22507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79085" y="2249592"/>
            <a:ext cx="6100623" cy="3787062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34516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0D0A563-F018-FFF1-B911-D69E42CEEA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30279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DA2B1BE-7DDF-C8B4-6A46-21B5A0257D0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8364" y="1830708"/>
            <a:ext cx="5321063" cy="456392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6552" y="2191025"/>
            <a:ext cx="5733156" cy="3894807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DD64E6-257D-65B2-D2A7-6A1002E1E580}"/>
              </a:ext>
            </a:extLst>
          </p:cNvPr>
          <p:cNvCxnSpPr>
            <a:cxnSpLocks/>
          </p:cNvCxnSpPr>
          <p:nvPr/>
        </p:nvCxnSpPr>
        <p:spPr>
          <a:xfrm>
            <a:off x="5321065" y="1822345"/>
            <a:ext cx="0" cy="5035655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14604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1299"/>
            <a:ext cx="3689927" cy="1486906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4515" y="2780147"/>
            <a:ext cx="6567049" cy="3359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5C1EC-3A2D-2E51-65A6-6155B3776C4A}"/>
              </a:ext>
            </a:extLst>
          </p:cNvPr>
          <p:cNvCxnSpPr>
            <a:cxnSpLocks/>
          </p:cNvCxnSpPr>
          <p:nvPr/>
        </p:nvCxnSpPr>
        <p:spPr>
          <a:xfrm flipH="1">
            <a:off x="0" y="239797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97FEE4-9B7E-CE58-4AA3-EC6E3E1861F3}"/>
              </a:ext>
            </a:extLst>
          </p:cNvPr>
          <p:cNvCxnSpPr>
            <a:cxnSpLocks/>
          </p:cNvCxnSpPr>
          <p:nvPr/>
        </p:nvCxnSpPr>
        <p:spPr>
          <a:xfrm>
            <a:off x="4469245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63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>
          <p15:clr>
            <a:srgbClr val="FBAE40"/>
          </p15:clr>
        </p15:guide>
        <p15:guide id="4" pos="2928">
          <p15:clr>
            <a:srgbClr val="FBAE40"/>
          </p15:clr>
        </p15:guide>
        <p15:guide id="5" pos="47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0473"/>
            <a:ext cx="3664107" cy="3864052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0349" y="720473"/>
            <a:ext cx="6309360" cy="5303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6AC6891-86BE-FF41-E94E-AB97BFFB2322}"/>
              </a:ext>
            </a:extLst>
          </p:cNvPr>
          <p:cNvCxnSpPr>
            <a:cxnSpLocks/>
          </p:cNvCxnSpPr>
          <p:nvPr/>
        </p:nvCxnSpPr>
        <p:spPr>
          <a:xfrm>
            <a:off x="464346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51E503-5C8D-3CDA-5CC2-A56B4F2A619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1445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1995" y="559483"/>
            <a:ext cx="6825541" cy="100965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421943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1994" y="2083837"/>
            <a:ext cx="6825545" cy="4032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81144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423739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4425535" y="1810995"/>
            <a:ext cx="7750205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1002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2644" y="669386"/>
            <a:ext cx="7231413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994" y="-5468"/>
            <a:ext cx="4011836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2644" y="1812385"/>
            <a:ext cx="7231407" cy="4423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40801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00921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2330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0728"/>
            <a:ext cx="7281067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3728"/>
            <a:ext cx="7281061" cy="4423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5489" y="-6369"/>
            <a:ext cx="3996512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818828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9906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8485"/>
            <a:ext cx="6369370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1484"/>
            <a:ext cx="6360897" cy="42921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77100" y="-8466"/>
            <a:ext cx="4914895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727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01622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8145"/>
            <a:ext cx="4000497" cy="16797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72880"/>
            <a:ext cx="4000497" cy="3789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53323" y="0"/>
            <a:ext cx="733867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40005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849331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44752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9922" y="458144"/>
            <a:ext cx="3909536" cy="14858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6839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9922" y="2463789"/>
            <a:ext cx="3909534" cy="35610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67EAFE-BA64-2156-9780-AA400F6F3026}"/>
              </a:ext>
            </a:extLst>
          </p:cNvPr>
          <p:cNvCxnSpPr>
            <a:cxnSpLocks/>
          </p:cNvCxnSpPr>
          <p:nvPr/>
        </p:nvCxnSpPr>
        <p:spPr>
          <a:xfrm>
            <a:off x="727134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F2342-86AA-3EA4-EB3B-2DB8D68315E6}"/>
              </a:ext>
            </a:extLst>
          </p:cNvPr>
          <p:cNvCxnSpPr>
            <a:cxnSpLocks/>
          </p:cNvCxnSpPr>
          <p:nvPr/>
        </p:nvCxnSpPr>
        <p:spPr>
          <a:xfrm flipH="1">
            <a:off x="7227420" y="2212509"/>
            <a:ext cx="493532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611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959530"/>
            <a:ext cx="3512409" cy="219986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B441162-7125-E1E0-1B82-FCC1AB8422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57" y="-1"/>
            <a:ext cx="12192000" cy="364897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3613" y="3959529"/>
            <a:ext cx="7011183" cy="23695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1" y="6445997"/>
            <a:ext cx="354329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FF81FBD-8D67-B5E4-E22E-74E98EF89F80}"/>
              </a:ext>
            </a:extLst>
          </p:cNvPr>
          <p:cNvCxnSpPr>
            <a:cxnSpLocks/>
          </p:cNvCxnSpPr>
          <p:nvPr/>
        </p:nvCxnSpPr>
        <p:spPr>
          <a:xfrm>
            <a:off x="4290210" y="3648976"/>
            <a:ext cx="0" cy="3209024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92870-1B48-2935-21E8-3BC6F474C661}"/>
              </a:ext>
            </a:extLst>
          </p:cNvPr>
          <p:cNvCxnSpPr>
            <a:cxnSpLocks/>
          </p:cNvCxnSpPr>
          <p:nvPr/>
        </p:nvCxnSpPr>
        <p:spPr>
          <a:xfrm flipH="1">
            <a:off x="-857" y="3654706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40076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77072"/>
            <a:ext cx="4958078" cy="122548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842182"/>
            <a:ext cx="5758172" cy="454645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142" y="377072"/>
            <a:ext cx="5558655" cy="57974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575817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1842182"/>
            <a:ext cx="5758174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98098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407360"/>
            <a:ext cx="3543299" cy="173282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66598"/>
            <a:ext cx="4460008" cy="3601433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2635" y="788704"/>
            <a:ext cx="6730614" cy="5385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5433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4068031"/>
            <a:ext cx="446000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446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D58D1-F636-9620-582E-41FBB707092B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6149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91F6A87-CC7B-D4BD-1F6A-C3948971C3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8720" y="5264780"/>
            <a:ext cx="9811512" cy="109728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10000"/>
              </a:lnSpc>
              <a:defRPr lang="en-US" sz="2800" cap="all" spc="100" baseline="0" dirty="0">
                <a:solidFill>
                  <a:schemeClr val="tx2">
                    <a:lumMod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676656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ADE133-B5D6-A1C0-6BC9-C723D008EC0E}"/>
              </a:ext>
            </a:extLst>
          </p:cNvPr>
          <p:cNvCxnSpPr>
            <a:cxnSpLocks/>
          </p:cNvCxnSpPr>
          <p:nvPr/>
        </p:nvCxnSpPr>
        <p:spPr>
          <a:xfrm flipH="1">
            <a:off x="0" y="501866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23322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FB4D75-C478-D736-9A5A-B64DEA2410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93103" y="1493520"/>
            <a:ext cx="8805794" cy="39116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5400" b="0">
                <a:solidFill>
                  <a:schemeClr val="tx2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4800" b="0">
                <a:solidFill>
                  <a:schemeClr val="tx2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4400" b="0">
                <a:solidFill>
                  <a:schemeClr val="tx2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4000" b="0">
                <a:solidFill>
                  <a:schemeClr val="tx2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36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547212-589F-3A5C-2FF7-4E576B86E3A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E2472-A2D0-B3C4-1592-E709B2EC9AD6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F95E0B8-C6C3-8095-D53F-FB618E39D7CE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AD2DF78-237E-1E21-906C-273460F55F55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5522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47DCC75-46A1-9953-9459-89672E9805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2100" y="5549186"/>
            <a:ext cx="9199563" cy="6531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 cap="all" spc="100" baseline="0">
                <a:solidFill>
                  <a:schemeClr val="accent4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36EB602-83B2-B4EE-7805-FB94B774766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562100" y="823913"/>
            <a:ext cx="9199563" cy="3614737"/>
          </a:xfrm>
        </p:spPr>
        <p:txBody>
          <a:bodyPr anchor="ctr">
            <a:normAutofit/>
          </a:bodyPr>
          <a:lstStyle>
            <a:lvl1pPr marL="182880" indent="-182880">
              <a:buNone/>
              <a:defRPr sz="400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1338F2-C5CE-45A7-7748-138B348BA1E7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4CFB94-8AB3-65DB-0B12-EC4F7DAAEBF7}"/>
              </a:ext>
            </a:extLst>
          </p:cNvPr>
          <p:cNvCxnSpPr>
            <a:cxnSpLocks/>
          </p:cNvCxnSpPr>
          <p:nvPr/>
        </p:nvCxnSpPr>
        <p:spPr>
          <a:xfrm flipH="1">
            <a:off x="0" y="504372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87757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27BF6-CDFA-AAF4-F7FD-F4F8D06FF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5309"/>
            <a:ext cx="11277600" cy="914400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B1904-05A3-AF54-90B7-8B4E5E9BFC6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5613" y="1677988"/>
            <a:ext cx="5181600" cy="4498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D15555F-2C1E-04D7-CE37-D06ABFB568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3200" y="1677988"/>
            <a:ext cx="5180013" cy="449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08197-F703-726D-4372-C7520052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FAA39-5E1E-3A94-5A04-C36BA19E3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80595-19B6-01B9-FCF5-F94B0C1BB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C5098A-8A29-951C-ABCF-B4C329C3A94F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4A1D01-2B46-73F0-8DC7-926AA95F7DFC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83807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F27A1-B3E2-4312-9475-76586DB13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6838"/>
            <a:ext cx="11274552" cy="914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D6984-5D8F-6F35-3DC2-352D46E75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475623"/>
            <a:ext cx="5184648" cy="676690"/>
          </a:xfrm>
        </p:spPr>
        <p:txBody>
          <a:bodyPr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CD5136-48A0-D788-8CE2-627309A00EC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522538"/>
            <a:ext cx="5178425" cy="380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07CEA6-7FDB-2A72-485B-D38A79C182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6248" y="1475622"/>
            <a:ext cx="5184648" cy="676690"/>
          </a:xfrm>
        </p:spPr>
        <p:txBody>
          <a:bodyPr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C4D723F-4492-3B3B-CE74-0959714EEB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6375" y="2522538"/>
            <a:ext cx="5175249" cy="380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FA108E0-63AE-4B5C-404F-AD0FEC4AB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2E2EB77-3CF8-CDC9-D0D4-1AC07FC53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918C09E-FCA3-F1F6-7408-40D98FCE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4F547E-1AC1-2FFD-3E17-DC3F25B07823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95E25D-D4B1-2002-F8AB-8B987C1683D9}"/>
              </a:ext>
            </a:extLst>
          </p:cNvPr>
          <p:cNvCxnSpPr>
            <a:cxnSpLocks/>
          </p:cNvCxnSpPr>
          <p:nvPr/>
        </p:nvCxnSpPr>
        <p:spPr>
          <a:xfrm flipH="1">
            <a:off x="0" y="226812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35EA16-C700-BA75-F075-2E4BC3EAFBE2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33260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552C1-DD73-A90F-46E0-33A4D5580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8F8C10-87B8-01D2-2FEE-DAC41B9CF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25E57E-7F73-3825-2158-80859BAD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634BF-792D-AC8C-B0E0-49226340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9146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51370D-0A93-44DD-E049-EF3265B73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FF00A2-5853-30A7-62F5-7C7CB5A22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E97DA-A7DF-E3FF-8937-F6A36D17F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94609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319627-2791-E32D-91B0-857B27F822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11122508" cy="1993399"/>
          </a:xfrm>
        </p:spPr>
        <p:txBody>
          <a:bodyPr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3528206"/>
            <a:ext cx="11122509" cy="275425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8385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7CD7571-736E-B4CB-34E0-C8B31B5A98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6768193" cy="1993399"/>
          </a:xfrm>
        </p:spPr>
        <p:txBody>
          <a:bodyPr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3528206"/>
            <a:ext cx="6768193" cy="17948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42071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57148D-D60C-3359-4AC2-15A43E221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1"/>
            <a:ext cx="10515600" cy="11572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8731C-FCAE-A05A-5A11-57005B86A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52E70-B2DF-717F-6373-70A688FAD8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445997"/>
            <a:ext cx="39493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215E5-6146-14C5-665E-EF04630DCB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8FA3A-8706-3F4B-41CC-B024431F62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92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  <p:sldLayoutId id="2147483855" r:id="rId11"/>
    <p:sldLayoutId id="2147483856" r:id="rId12"/>
    <p:sldLayoutId id="2147483857" r:id="rId13"/>
    <p:sldLayoutId id="2147483858" r:id="rId14"/>
    <p:sldLayoutId id="2147483859" r:id="rId15"/>
    <p:sldLayoutId id="2147483860" r:id="rId16"/>
    <p:sldLayoutId id="2147483861" r:id="rId17"/>
    <p:sldLayoutId id="2147483862" r:id="rId18"/>
    <p:sldLayoutId id="2147483863" r:id="rId19"/>
    <p:sldLayoutId id="2147483864" r:id="rId20"/>
    <p:sldLayoutId id="2147483865" r:id="rId21"/>
    <p:sldLayoutId id="2147483866" r:id="rId22"/>
    <p:sldLayoutId id="2147483867" r:id="rId23"/>
    <p:sldLayoutId id="2147483868" r:id="rId24"/>
    <p:sldLayoutId id="2147483869" r:id="rId25"/>
    <p:sldLayoutId id="2147483870" r:id="rId26"/>
    <p:sldLayoutId id="2147483871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08">
          <p15:clr>
            <a:srgbClr val="F26B43"/>
          </p15:clr>
        </p15:guide>
        <p15:guide id="3" pos="4872">
          <p15:clr>
            <a:srgbClr val="F26B43"/>
          </p15:clr>
        </p15:guide>
        <p15:guide id="4" pos="5160">
          <p15:clr>
            <a:srgbClr val="F26B43"/>
          </p15:clr>
        </p15:guide>
        <p15:guide id="5" pos="2520">
          <p15:clr>
            <a:srgbClr val="F26B43"/>
          </p15:clr>
        </p15:guide>
        <p15:guide id="6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6760" y="914400"/>
            <a:ext cx="10698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100" b="1" dirty="0">
                <a:solidFill>
                  <a:srgbClr val="243D49"/>
                </a:solidFill>
                <a:latin typeface="Aptos"/>
              </a:rPr>
              <a:t>SEASONAL AGRICULTURE
PERFORMANCE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33172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E767A"/>
                </a:solidFill>
                <a:latin typeface="Aptos"/>
              </a:rPr>
              <a:t>Major Project | VOIS AICTE Batch 1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76051" y="3237191"/>
            <a:ext cx="66751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dirty="0">
                <a:solidFill>
                  <a:srgbClr val="32373A"/>
                </a:solidFill>
                <a:latin typeface="Aptos"/>
              </a:rPr>
              <a:t>Student Name: </a:t>
            </a:r>
            <a:r>
              <a:rPr lang="en-IN" dirty="0">
                <a:solidFill>
                  <a:srgbClr val="32373A"/>
                </a:solidFill>
                <a:latin typeface="Aptos"/>
              </a:rPr>
              <a:t>Kunal Joon</a:t>
            </a:r>
            <a:r>
              <a:rPr sz="1800" b="0" dirty="0">
                <a:solidFill>
                  <a:srgbClr val="32373A"/>
                </a:solidFill>
                <a:latin typeface="Aptos"/>
              </a:rPr>
              <a:t>
College Name:</a:t>
            </a:r>
            <a:r>
              <a:rPr lang="en-IN" sz="1800" b="0" dirty="0">
                <a:solidFill>
                  <a:srgbClr val="32373A"/>
                </a:solidFill>
                <a:latin typeface="Aptos"/>
              </a:rPr>
              <a:t> Sushant </a:t>
            </a:r>
            <a:r>
              <a:rPr lang="en-IN" sz="1800" b="0" dirty="0" err="1">
                <a:solidFill>
                  <a:srgbClr val="32373A"/>
                </a:solidFill>
                <a:latin typeface="Aptos"/>
              </a:rPr>
              <a:t>Univertrsity</a:t>
            </a:r>
            <a:r>
              <a:rPr sz="1800" b="0" dirty="0">
                <a:solidFill>
                  <a:srgbClr val="32373A"/>
                </a:solidFill>
                <a:latin typeface="Aptos"/>
              </a:rPr>
              <a:t>
AICTE STU I</a:t>
            </a:r>
            <a:r>
              <a:rPr lang="en-IN" sz="1800" b="0" dirty="0">
                <a:solidFill>
                  <a:srgbClr val="32373A"/>
                </a:solidFill>
                <a:latin typeface="Aptos"/>
              </a:rPr>
              <a:t>D: </a:t>
            </a:r>
            <a:r>
              <a:rPr lang="en-IN" b="1" dirty="0"/>
              <a:t>STU6a05644eb11611778738254</a:t>
            </a:r>
            <a:endParaRPr sz="1800" b="0" dirty="0">
              <a:solidFill>
                <a:srgbClr val="32373A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49039" y="48006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B6953"/>
                </a:solidFill>
                <a:latin typeface="Aptos"/>
              </a:rPr>
              <a:t>Data Analytics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43D49"/>
                </a:solidFill>
                <a:latin typeface="Aptos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73A"/>
                </a:solidFill>
                <a:latin typeface="Aptos"/>
              </a:defRPr>
            </a:pPr>
            <a:r>
              <a:t>• Agricultural performance varies with seasonal environmental conditions, farming practices, resource availability and market conditions.</a:t>
            </a:r>
          </a:p>
          <a:p>
            <a:pPr>
              <a:spcAft>
                <a:spcPts val="1000"/>
              </a:spcAft>
              <a:defRPr sz="1800">
                <a:solidFill>
                  <a:srgbClr val="32373A"/>
                </a:solidFill>
                <a:latin typeface="Aptos"/>
              </a:defRPr>
            </a:pPr>
            <a:r>
              <a:t>• Raw agricultural data does not clearly explain how performance changes across seasons.</a:t>
            </a:r>
          </a:p>
          <a:p>
            <a:pPr>
              <a:spcAft>
                <a:spcPts val="1000"/>
              </a:spcAft>
              <a:defRPr sz="1800">
                <a:solidFill>
                  <a:srgbClr val="32373A"/>
                </a:solidFill>
                <a:latin typeface="Aptos"/>
              </a:defRPr>
            </a:pPr>
            <a:r>
              <a:t>• This project analyzes seasonal differences, trends, relationships and variations in agricultural performance.</a:t>
            </a:r>
          </a:p>
          <a:p>
            <a:pPr>
              <a:spcAft>
                <a:spcPts val="1000"/>
              </a:spcAft>
              <a:defRPr sz="1800">
                <a:solidFill>
                  <a:srgbClr val="32373A"/>
                </a:solidFill>
                <a:latin typeface="Aptos"/>
              </a:defRPr>
            </a:pPr>
            <a:r>
              <a:t>• The findings are intended to support evidence-based agricultural planning.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43D49"/>
                </a:solidFill>
                <a:latin typeface="Aptos"/>
              </a:rPr>
              <a:t>Project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73A"/>
                </a:solidFill>
                <a:latin typeface="Aptos"/>
              </a:defRPr>
            </a:pPr>
            <a:r>
              <a:t>• The dataset contains 4,000 agricultural records and 28 variables.</a:t>
            </a:r>
          </a:p>
          <a:p>
            <a:pPr>
              <a:spcAft>
                <a:spcPts val="1000"/>
              </a:spcAft>
              <a:defRPr sz="1800">
                <a:solidFill>
                  <a:srgbClr val="32373A"/>
                </a:solidFill>
                <a:latin typeface="Aptos"/>
              </a:defRPr>
            </a:pPr>
            <a:r>
              <a:t>• It covers 3 seasons, 8 crop categories and 8 states.</a:t>
            </a:r>
          </a:p>
          <a:p>
            <a:pPr>
              <a:spcAft>
                <a:spcPts val="1000"/>
              </a:spcAft>
              <a:defRPr sz="1800">
                <a:solidFill>
                  <a:srgbClr val="32373A"/>
                </a:solidFill>
                <a:latin typeface="Aptos"/>
              </a:defRPr>
            </a:pPr>
            <a:r>
              <a:t>• The workflow includes data cleaning, exploratory analysis, seasonal comparison, statistical testing and visualization.</a:t>
            </a:r>
          </a:p>
          <a:p>
            <a:pPr>
              <a:spcAft>
                <a:spcPts val="1000"/>
              </a:spcAft>
              <a:defRPr sz="1800">
                <a:solidFill>
                  <a:srgbClr val="32373A"/>
                </a:solidFill>
                <a:latin typeface="Aptos"/>
              </a:defRPr>
            </a:pPr>
            <a:r>
              <a:t>• Performance is evaluated using yield, production, revenue, cost, profit, water usage and pest/disease risk.</a:t>
            </a:r>
          </a:p>
          <a:p>
            <a:pPr>
              <a:spcAft>
                <a:spcPts val="1000"/>
              </a:spcAft>
              <a:defRPr sz="1800">
                <a:solidFill>
                  <a:srgbClr val="32373A"/>
                </a:solidFill>
                <a:latin typeface="Aptos"/>
              </a:defRPr>
            </a:pPr>
            <a:r>
              <a:t>• A Random Forest model can additionally be used to identify variables associated with crop yield.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43D49"/>
                </a:solidFill>
                <a:latin typeface="Aptos"/>
              </a:rPr>
              <a:t>Who Are the End Users?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73A"/>
                </a:solidFill>
                <a:latin typeface="Aptos"/>
              </a:defRPr>
            </a:pPr>
            <a:r>
              <a:t>• Farmers — compare seasonal performance and resource requirements.</a:t>
            </a:r>
          </a:p>
          <a:p>
            <a:pPr>
              <a:spcAft>
                <a:spcPts val="1000"/>
              </a:spcAft>
              <a:defRPr sz="1800">
                <a:solidFill>
                  <a:srgbClr val="32373A"/>
                </a:solidFill>
                <a:latin typeface="Aptos"/>
              </a:defRPr>
            </a:pPr>
            <a:r>
              <a:t>• Agricultural planners — support evidence-based seasonal planning.</a:t>
            </a:r>
          </a:p>
          <a:p>
            <a:pPr>
              <a:spcAft>
                <a:spcPts val="1000"/>
              </a:spcAft>
              <a:defRPr sz="1800">
                <a:solidFill>
                  <a:srgbClr val="32373A"/>
                </a:solidFill>
                <a:latin typeface="Aptos"/>
              </a:defRPr>
            </a:pPr>
            <a:r>
              <a:t>• Agribusinesses — understand crop profitability and market outcomes.</a:t>
            </a:r>
          </a:p>
          <a:p>
            <a:pPr>
              <a:spcAft>
                <a:spcPts val="1000"/>
              </a:spcAft>
              <a:defRPr sz="1800">
                <a:solidFill>
                  <a:srgbClr val="32373A"/>
                </a:solidFill>
                <a:latin typeface="Aptos"/>
              </a:defRPr>
            </a:pPr>
            <a:r>
              <a:t>• Agricultural analysts — identify trends, relationships and unusual patterns.</a:t>
            </a:r>
          </a:p>
          <a:p>
            <a:pPr>
              <a:spcAft>
                <a:spcPts val="1000"/>
              </a:spcAft>
              <a:defRPr sz="1800">
                <a:solidFill>
                  <a:srgbClr val="32373A"/>
                </a:solidFill>
                <a:latin typeface="Aptos"/>
              </a:defRPr>
            </a:pPr>
            <a:r>
              <a:t>• Researchers and students — perform data-driven agricultural studies.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43D49"/>
                </a:solidFill>
                <a:latin typeface="Aptos"/>
              </a:rPr>
              <a:t>Technology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73A"/>
                </a:solidFill>
                <a:latin typeface="Aptos"/>
              </a:defRPr>
            </a:pPr>
            <a:r>
              <a:t>• Python — core programming and analysis</a:t>
            </a:r>
          </a:p>
          <a:p>
            <a:pPr>
              <a:spcAft>
                <a:spcPts val="1000"/>
              </a:spcAft>
              <a:defRPr sz="1800">
                <a:solidFill>
                  <a:srgbClr val="32373A"/>
                </a:solidFill>
                <a:latin typeface="Aptos"/>
              </a:defRPr>
            </a:pPr>
            <a:r>
              <a:t>• Pandas &amp; NumPy — data cleaning and numerical analysis</a:t>
            </a:r>
          </a:p>
          <a:p>
            <a:pPr>
              <a:spcAft>
                <a:spcPts val="1000"/>
              </a:spcAft>
              <a:defRPr sz="1800">
                <a:solidFill>
                  <a:srgbClr val="32373A"/>
                </a:solidFill>
                <a:latin typeface="Aptos"/>
              </a:defRPr>
            </a:pPr>
            <a:r>
              <a:t>• Matplotlib &amp; Seaborn — data visualization</a:t>
            </a:r>
          </a:p>
          <a:p>
            <a:pPr>
              <a:spcAft>
                <a:spcPts val="1000"/>
              </a:spcAft>
              <a:defRPr sz="1800">
                <a:solidFill>
                  <a:srgbClr val="32373A"/>
                </a:solidFill>
                <a:latin typeface="Aptos"/>
              </a:defRPr>
            </a:pPr>
            <a:r>
              <a:t>• SciPy — statistical analysis and ANOVA</a:t>
            </a:r>
          </a:p>
          <a:p>
            <a:pPr>
              <a:spcAft>
                <a:spcPts val="1000"/>
              </a:spcAft>
              <a:defRPr sz="1800">
                <a:solidFill>
                  <a:srgbClr val="32373A"/>
                </a:solidFill>
                <a:latin typeface="Aptos"/>
              </a:defRPr>
            </a:pPr>
            <a:r>
              <a:t>• Scikit-learn — Random Forest regression</a:t>
            </a:r>
          </a:p>
          <a:p>
            <a:pPr>
              <a:spcAft>
                <a:spcPts val="1000"/>
              </a:spcAft>
              <a:defRPr sz="1800">
                <a:solidFill>
                  <a:srgbClr val="32373A"/>
                </a:solidFill>
                <a:latin typeface="Aptos"/>
              </a:defRPr>
            </a:pPr>
            <a:r>
              <a:t>• Jupyter Notebook — project documentation and reproducible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43D49"/>
                </a:solidFill>
                <a:latin typeface="Aptos"/>
              </a:rPr>
              <a:t>Results — Seasonal Performance</a:t>
            </a:r>
          </a:p>
        </p:txBody>
      </p:sp>
      <p:pic>
        <p:nvPicPr>
          <p:cNvPr id="3" name="Picture 2" descr="y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5486400" cy="2916820"/>
          </a:xfrm>
          <a:prstGeom prst="rect">
            <a:avLst/>
          </a:prstGeom>
        </p:spPr>
      </p:pic>
      <p:pic>
        <p:nvPicPr>
          <p:cNvPr id="4" name="Picture 3" descr="pro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486400" cy="2914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5321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B6953"/>
                </a:solidFill>
                <a:latin typeface="Aptos"/>
              </a:rPr>
              <a:t>Highest average yield: Kharif — 5.64 t/ha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55321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B6953"/>
                </a:solidFill>
                <a:latin typeface="Aptos"/>
              </a:rPr>
              <a:t>Highest average profit: Kharif — ₹178,915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43D49"/>
                </a:solidFill>
                <a:latin typeface="Aptos"/>
              </a:rPr>
              <a:t>Results — Environmental Conditions</a:t>
            </a:r>
          </a:p>
        </p:txBody>
      </p:sp>
      <p:pic>
        <p:nvPicPr>
          <p:cNvPr id="3" name="Picture 2" descr="environ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8720"/>
            <a:ext cx="10881360" cy="34881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07492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2373A"/>
                </a:solidFill>
                <a:latin typeface="Aptos"/>
              </a:rPr>
              <a:t>Seasonal differences in rainfall, temperature and humidity provide context for changes in crop performance and agricultural risk.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43D49"/>
                </a:solidFill>
                <a:latin typeface="Aptos"/>
              </a:rPr>
              <a:t>Results — Crop &amp; Season Comparison</a:t>
            </a:r>
          </a:p>
        </p:txBody>
      </p:sp>
      <p:pic>
        <p:nvPicPr>
          <p:cNvPr id="3" name="Picture 2" descr="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6629400" cy="41544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52360" y="1417320"/>
            <a:ext cx="397763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2373A"/>
                </a:solidFill>
                <a:latin typeface="Aptos"/>
              </a:defRPr>
            </a:pPr>
            <a:r>
              <a:t>• Highest average-yield crop: Sugarcane (46.94 t/ha).</a:t>
            </a:r>
          </a:p>
          <a:p>
            <a:pPr>
              <a:spcAft>
                <a:spcPts val="1000"/>
              </a:spcAft>
              <a:defRPr sz="1500">
                <a:solidFill>
                  <a:srgbClr val="32373A"/>
                </a:solidFill>
                <a:latin typeface="Aptos"/>
              </a:defRPr>
            </a:pPr>
            <a:r>
              <a:t>• Crop performance changes across seasons.</a:t>
            </a:r>
          </a:p>
          <a:p>
            <a:pPr>
              <a:spcAft>
                <a:spcPts val="1000"/>
              </a:spcAft>
              <a:defRPr sz="1500">
                <a:solidFill>
                  <a:srgbClr val="32373A"/>
                </a:solidFill>
                <a:latin typeface="Aptos"/>
              </a:defRPr>
            </a:pPr>
            <a:r>
              <a:t>• The crop-season comparison identifies stronger and weaker combinations.</a:t>
            </a:r>
          </a:p>
          <a:p>
            <a:pPr>
              <a:spcAft>
                <a:spcPts val="1000"/>
              </a:spcAft>
              <a:defRPr sz="1500">
                <a:solidFill>
                  <a:srgbClr val="32373A"/>
                </a:solidFill>
                <a:latin typeface="Aptos"/>
              </a:defRPr>
            </a:pPr>
            <a:r>
              <a:t>• These patterns can support more targeted crop and seasonal planning.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43D49"/>
                </a:solidFill>
                <a:latin typeface="Aptos"/>
              </a:rPr>
              <a:t>Results — Water Efficiency &amp; Pest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73A"/>
                </a:solidFill>
                <a:latin typeface="Aptos"/>
              </a:defRPr>
            </a:pPr>
            <a:r>
              <a:t>• Best average water efficiency: Kharif (5.89 t per 1000 m³).</a:t>
            </a:r>
          </a:p>
          <a:p>
            <a:pPr>
              <a:spcAft>
                <a:spcPts val="1000"/>
              </a:spcAft>
              <a:defRPr sz="1800">
                <a:solidFill>
                  <a:srgbClr val="32373A"/>
                </a:solidFill>
                <a:latin typeface="Aptos"/>
              </a:defRPr>
            </a:pPr>
            <a:r>
              <a:t>• Highest average disease/pest risk: Kharif (54.47%).</a:t>
            </a:r>
          </a:p>
          <a:p>
            <a:pPr>
              <a:spcAft>
                <a:spcPts val="1000"/>
              </a:spcAft>
              <a:defRPr sz="1800">
                <a:solidFill>
                  <a:srgbClr val="32373A"/>
                </a:solidFill>
                <a:latin typeface="Aptos"/>
              </a:defRPr>
            </a:pPr>
            <a:r>
              <a:t>• Highest average water use occurs in Zaid (6,420 m³).</a:t>
            </a:r>
          </a:p>
          <a:p>
            <a:pPr>
              <a:spcAft>
                <a:spcPts val="1000"/>
              </a:spcAft>
              <a:defRPr sz="1800">
                <a:solidFill>
                  <a:srgbClr val="32373A"/>
                </a:solidFill>
                <a:latin typeface="Aptos"/>
              </a:defRPr>
            </a:pPr>
            <a:r>
              <a:t>• Water efficiency and pest risk should be evaluated together with yield and profitability.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43D49"/>
                </a:solidFill>
                <a:latin typeface="Aptos"/>
              </a:rPr>
              <a:t>Results — Relationships &amp; Statistical Analysis</a:t>
            </a:r>
          </a:p>
        </p:txBody>
      </p:sp>
      <p:pic>
        <p:nvPicPr>
          <p:cNvPr id="3" name="Picture 2" descr="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6766560" cy="50814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60920" y="1325880"/>
            <a:ext cx="4114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2373A"/>
                </a:solidFill>
                <a:latin typeface="Aptos"/>
              </a:defRPr>
            </a:pPr>
            <a:r>
              <a:t>• Yield ANOVA p-value: nan.</a:t>
            </a:r>
          </a:p>
          <a:p>
            <a:pPr>
              <a:spcAft>
                <a:spcPts val="1000"/>
              </a:spcAft>
              <a:defRPr sz="1400">
                <a:solidFill>
                  <a:srgbClr val="32373A"/>
                </a:solidFill>
                <a:latin typeface="Aptos"/>
              </a:defRPr>
            </a:pPr>
            <a:r>
              <a:t>• A p-value below 0.05 indicates statistically significant differences in mean yield between seasons.</a:t>
            </a:r>
          </a:p>
          <a:p>
            <a:pPr>
              <a:spcAft>
                <a:spcPts val="1000"/>
              </a:spcAft>
              <a:defRPr sz="1400">
                <a:solidFill>
                  <a:srgbClr val="32373A"/>
                </a:solidFill>
                <a:latin typeface="Aptos"/>
              </a:defRPr>
            </a:pPr>
            <a:r>
              <a:t>• Profit ANOVA p-value: 1.712e-15.</a:t>
            </a:r>
          </a:p>
          <a:p>
            <a:pPr>
              <a:spcAft>
                <a:spcPts val="1000"/>
              </a:spcAft>
              <a:defRPr sz="1400">
                <a:solidFill>
                  <a:srgbClr val="32373A"/>
                </a:solidFill>
                <a:latin typeface="Aptos"/>
              </a:defRPr>
            </a:pPr>
            <a:r>
              <a:t>• Correlation shows association between variables; it does not by itself prove causation.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43D49"/>
                </a:solidFill>
                <a:latin typeface="Aptos"/>
              </a:rP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73A"/>
                </a:solidFill>
                <a:latin typeface="Aptos"/>
              </a:defRPr>
            </a:pPr>
            <a:r>
              <a:t>• Build an interactive dashboard for seasonal and regional monitoring.</a:t>
            </a:r>
          </a:p>
          <a:p>
            <a:pPr>
              <a:spcAft>
                <a:spcPts val="1000"/>
              </a:spcAft>
              <a:defRPr sz="1800">
                <a:solidFill>
                  <a:srgbClr val="32373A"/>
                </a:solidFill>
                <a:latin typeface="Aptos"/>
              </a:defRPr>
            </a:pPr>
            <a:r>
              <a:t>• Add multi-year historical data for long-term trend analysis.</a:t>
            </a:r>
          </a:p>
          <a:p>
            <a:pPr>
              <a:spcAft>
                <a:spcPts val="1000"/>
              </a:spcAft>
              <a:defRPr sz="1800">
                <a:solidFill>
                  <a:srgbClr val="32373A"/>
                </a:solidFill>
                <a:latin typeface="Aptos"/>
              </a:defRPr>
            </a:pPr>
            <a:r>
              <a:t>• Integrate live weather and market-price information.</a:t>
            </a:r>
          </a:p>
          <a:p>
            <a:pPr>
              <a:spcAft>
                <a:spcPts val="1000"/>
              </a:spcAft>
              <a:defRPr sz="1800">
                <a:solidFill>
                  <a:srgbClr val="32373A"/>
                </a:solidFill>
                <a:latin typeface="Aptos"/>
              </a:defRPr>
            </a:pPr>
            <a:r>
              <a:t>• Develop crop-specific recommendation systems.</a:t>
            </a:r>
          </a:p>
          <a:p>
            <a:pPr>
              <a:spcAft>
                <a:spcPts val="1000"/>
              </a:spcAft>
              <a:defRPr sz="1800">
                <a:solidFill>
                  <a:srgbClr val="32373A"/>
                </a:solidFill>
                <a:latin typeface="Aptos"/>
              </a:defRPr>
            </a:pPr>
            <a:r>
              <a:t>• Use advanced machine learning for yield, profit and pest-risk prediction.</a:t>
            </a:r>
          </a:p>
          <a:p>
            <a:pPr>
              <a:spcAft>
                <a:spcPts val="1000"/>
              </a:spcAft>
              <a:defRPr sz="1800">
                <a:solidFill>
                  <a:srgbClr val="32373A"/>
                </a:solidFill>
                <a:latin typeface="Aptos"/>
              </a:defRPr>
            </a:pPr>
            <a:r>
              <a:t>• Add GIS maps for state- and district-level agricultural planning.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43D49"/>
                </a:solidFill>
                <a:latin typeface="Aptos"/>
              </a:rPr>
              <a:t>GitHub Link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43D49"/>
                </a:solidFill>
                <a:latin typeface="Aptos"/>
              </a:rPr>
              <a:t>Project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0332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2B6953"/>
                </a:solidFill>
                <a:latin typeface="Aptos"/>
              </a:rPr>
              <a:t>https://github.com/KunalJoon/Seasonal_Agriculture_Performance_Analysis</a:t>
            </a:r>
            <a:endParaRPr sz="1800" b="0" dirty="0">
              <a:solidFill>
                <a:srgbClr val="2B6953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11680" y="3337560"/>
            <a:ext cx="8138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2373A"/>
                </a:solidFill>
                <a:latin typeface="Aptos"/>
              </a:rPr>
              <a:t>Repository should contain:
• Jupyter Notebook
• Dataset / data source information
• README with project description
• Results and visualizations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43D49"/>
                </a:solidFill>
                <a:latin typeface="Aptos"/>
              </a:rPr>
              <a:t>VOIS Course Completion Certificate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310581" y="85039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43D49"/>
                </a:solidFill>
                <a:latin typeface="Aptos"/>
              </a:rPr>
              <a:t>Course name: Data Visualization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21CE75-676F-14DA-C7F7-F3B375D8D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308" y="1547175"/>
            <a:ext cx="7840492" cy="465697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402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500" b="1">
                <a:solidFill>
                  <a:srgbClr val="243D49"/>
                </a:solidFill>
                <a:latin typeface="Apto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54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E767A"/>
                </a:solidFill>
                <a:latin typeface="Aptos"/>
              </a:rPr>
              <a:t>Seasonal Agriculture Performance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B6953"/>
                </a:solidFill>
                <a:latin typeface="Aptos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oji">
  <a:themeElements>
    <a:clrScheme name="Shoji">
      <a:dk1>
        <a:srgbClr val="131313"/>
      </a:dk1>
      <a:lt1>
        <a:sysClr val="window" lastClr="FFFFFF"/>
      </a:lt1>
      <a:dk2>
        <a:srgbClr val="1D3433"/>
      </a:dk2>
      <a:lt2>
        <a:srgbClr val="F3F2ED"/>
      </a:lt2>
      <a:accent1>
        <a:srgbClr val="7C5C3E"/>
      </a:accent1>
      <a:accent2>
        <a:srgbClr val="B8A189"/>
      </a:accent2>
      <a:accent3>
        <a:srgbClr val="A1A696"/>
      </a:accent3>
      <a:accent4>
        <a:srgbClr val="566868"/>
      </a:accent4>
      <a:accent5>
        <a:srgbClr val="786F50"/>
      </a:accent5>
      <a:accent6>
        <a:srgbClr val="A9A375"/>
      </a:accent6>
      <a:hlink>
        <a:srgbClr val="B1785F"/>
      </a:hlink>
      <a:folHlink>
        <a:srgbClr val="6C7F7F"/>
      </a:folHlink>
    </a:clrScheme>
    <a:fontScheme name="Custom 35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hoji" id="{FC7F6458-703E-4B19-BAF9-E88A9B02521B}" vid="{6FBA4037-BA28-4926-BD89-6C54034403A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Shoji</Template>
  <TotalTime>18</TotalTime>
  <Words>610</Words>
  <Application>Microsoft Office PowerPoint</Application>
  <PresentationFormat>Widescreen</PresentationFormat>
  <Paragraphs>64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Light</vt:lpstr>
      <vt:lpstr>Arial</vt:lpstr>
      <vt:lpstr>Walbaum Display</vt:lpstr>
      <vt:lpstr>Shoji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kunal joon</dc:creator>
  <cp:keywords/>
  <dc:description>generated using python-pptx</dc:description>
  <cp:lastModifiedBy>kunal joon</cp:lastModifiedBy>
  <cp:revision>2</cp:revision>
  <dcterms:created xsi:type="dcterms:W3CDTF">2013-01-27T09:14:16Z</dcterms:created>
  <dcterms:modified xsi:type="dcterms:W3CDTF">2026-09-15T14:24:04Z</dcterms:modified>
  <cp:category/>
</cp:coreProperties>
</file>